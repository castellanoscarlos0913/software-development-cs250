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387500"/>
            <a:ext cx="396240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5288" y="2959000"/>
            <a:ext cx="11381422" cy="6351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8FAFC"/>
                </a:solidFill>
                <a:latin typeface="Urbanist"/>
              </a:rPr>
              <a:t>Transitioning from </a:t>
            </a:r>
            <a:r>
              <a:rPr b="1" sz="4350" i="0" u="none">
                <a:solidFill>
                  <a:srgbClr val="38BDF8"/>
                </a:solidFill>
                <a:latin typeface="Urbanist"/>
              </a:rPr>
              <a:t>Waterfall</a:t>
            </a:r>
            <a:r>
              <a:rPr b="1" sz="4350" i="0" u="none">
                <a:solidFill>
                  <a:srgbClr val="F8FAFC"/>
                </a:solidFill>
                <a:latin typeface="Urbanist"/>
              </a:rPr>
              <a:t> to </a:t>
            </a:r>
            <a:r>
              <a:rPr b="1" sz="4350" i="0" u="none">
                <a:solidFill>
                  <a:srgbClr val="38BDF8"/>
                </a:solidFill>
                <a:latin typeface="Urbanist"/>
              </a:rPr>
              <a:t>Scrum-Agile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3784699"/>
            <a:ext cx="868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Urbanist"/>
              </a:rPr>
              <a:t>A strategic evaluation of the SNHU Travel pilot project and a case for organization-wide Agile adoption.</a:t>
            </a:r>
            <a:r>
              <a:t>
</a:t>
            </a:r>
            <a:r>
              <a:rPr b="1" sz="1500" i="0" u="none">
                <a:solidFill>
                  <a:srgbClr val="CBD5E1"/>
                </a:solidFill>
                <a:latin typeface="Urbanist"/>
              </a:rPr>
              <a:t>Presenter:</a:t>
            </a:r>
            <a:r>
              <a:rPr b="0" sz="1500" i="0" u="none">
                <a:solidFill>
                  <a:srgbClr val="CBD5E1"/>
                </a:solidFill>
                <a:latin typeface="Urbanist"/>
              </a:rPr>
              <a:t> Carlos Castellanos | Scrum 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81262"/>
            <a:ext cx="3581400" cy="2619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481262"/>
            <a:ext cx="3581400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481262"/>
            <a:ext cx="3581400" cy="2619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728912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3395662"/>
            <a:ext cx="324040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Product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767137"/>
            <a:ext cx="30861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Value Maximizer: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Acts as the sole customer liaison. Owns, orders, and refines the Product Backlog, ensuring high-priority user stories enter development seamlessly.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728912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2950" y="3395662"/>
            <a:ext cx="324040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Scrum 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3767137"/>
            <a:ext cx="30861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Servant-Leader: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Facilitates Scrum events, shields the team from external scope creep, removes technical blockers, and enforces Agile practices.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475" y="2728912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2475" y="3395662"/>
            <a:ext cx="324040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Developers &amp;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767137"/>
            <a:ext cx="30861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Cross-Functional Unit: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Self-organizing group holding collective ownership over building and testing shippable increments that meet the Definition of Done.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012" y="2843212"/>
            <a:ext cx="21907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0" y="2843212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3437" y="2843212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Core Roles on a </a:t>
            </a:r>
            <a:r>
              <a:rPr b="1" sz="2850" i="0" u="none">
                <a:solidFill>
                  <a:srgbClr val="38BDF8"/>
                </a:solidFill>
                <a:latin typeface="Urbanist"/>
              </a:rPr>
              <a:t>Scrum-Agile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1200"/>
            <a:ext cx="54197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90725"/>
            <a:ext cx="540067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1981200"/>
            <a:ext cx="5086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1F5F9"/>
                </a:solidFill>
                <a:latin typeface="Urbanist"/>
              </a:rPr>
              <a:t>Continuous Planning &amp; Grooming: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Requirements are continuously refined as user stories rather than frozen upfront.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2619375"/>
            <a:ext cx="5086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1F5F9"/>
                </a:solidFill>
                <a:latin typeface="Urbanist"/>
              </a:rPr>
              <a:t>Sprint Execution: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Compact 2-week development windows compress design, coding, and testing into parallel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257550"/>
            <a:ext cx="5086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1F5F9"/>
                </a:solidFill>
                <a:latin typeface="Urbanist"/>
              </a:rPr>
              <a:t>Embedded Quality Assurance: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Testers validate acceptance criteria alongside developers throughout each sprint.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95725"/>
            <a:ext cx="5086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1F5F9"/>
                </a:solidFill>
                <a:latin typeface="Urbanist"/>
              </a:rPr>
              <a:t>Demonstrable Release: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Every sprint produces a functional, defect-free software increment evaluated during Sprint Reviews.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005012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2643187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28136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3919537"/>
            <a:ext cx="219075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Agile SDLC: </a:t>
            </a:r>
            <a:r>
              <a:rPr b="1" sz="2850" i="0" u="none">
                <a:solidFill>
                  <a:srgbClr val="38BDF8"/>
                </a:solidFill>
                <a:latin typeface="Urbanist"/>
              </a:rPr>
              <a:t>Iterative Value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485775"/>
            <a:ext cx="569071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Contrast: </a:t>
            </a:r>
            <a:r>
              <a:rPr b="1" sz="2850" i="0" u="none">
                <a:solidFill>
                  <a:srgbClr val="38BDF8"/>
                </a:solidFill>
                <a:latin typeface="Urbanist"/>
              </a:rPr>
              <a:t>Waterfall vs. Agile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1209675"/>
            <a:ext cx="569071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Structured Phases vs. Continuous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1581150"/>
            <a:ext cx="54197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Waterfall Approach: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Relies on linear, sequential execution. Requirements are locked early, deferring integration and testing until late in the lifecycle, resulting in high risk and deferred discovery of bugs.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2424112"/>
            <a:ext cx="541972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Agile Approach: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Breaks releases into short, iterative sprints. Features are continuously designed, implemented, and verified, exposing risk early and enabling rapid feedback loops.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02681"/>
            <a:ext cx="5419725" cy="27765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2681"/>
            <a:ext cx="5419725" cy="277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2697956"/>
            <a:ext cx="5070633" cy="276225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Urbanist SemiBold"/>
              </a:rPr>
              <a:t>Waterfall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069431"/>
            <a:ext cx="48291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When SNHU Travel requested layout changes and updated destination image resource handling mid-project, a Waterfall model would have caused significant disruption: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3912393"/>
            <a:ext cx="48291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Urbanist"/>
              </a:rPr>
              <a:t>• Required formal change requests and budget approvals.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Urbanist"/>
              </a:rPr>
              <a:t> • Delayed release schedules to rewrite static architecture.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Urbanist"/>
              </a:rPr>
              <a:t> • Led to late-stage path bugs and missing image errors during final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697956"/>
            <a:ext cx="5070633" cy="276225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8BDF8"/>
                </a:solidFill>
                <a:latin typeface="Urbanist SemiBold"/>
              </a:rPr>
              <a:t>Agile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69431"/>
            <a:ext cx="48291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Under Scrum, the team absorbed changing requirements smoothly within short sprint cycles: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669506"/>
            <a:ext cx="482917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Urbanist"/>
              </a:rPr>
              <a:t>• Emergency changes were routed to the Product Owner for backlog refinement.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Urbanist"/>
              </a:rPr>
              <a:t> • Path impediments were identified and resolved during Daily Stand-ups.</a:t>
            </a:r>
            <a:r>
              <a:t>
</a:t>
            </a:r>
            <a:r>
              <a:rPr b="0" sz="1125" i="0" u="none">
                <a:solidFill>
                  <a:srgbClr val="CBD5E1"/>
                </a:solidFill>
                <a:latin typeface="Urbanist"/>
              </a:rPr>
              <a:t> • Image packaging issues were tested and fixed within the active sprint.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717006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717006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Scenario Analysis: </a:t>
            </a:r>
            <a:r>
              <a:rPr b="1" sz="2850" i="0" u="none">
                <a:solidFill>
                  <a:srgbClr val="38BDF8"/>
                </a:solidFill>
                <a:latin typeface="Urbanist"/>
              </a:rPr>
              <a:t>Handling Development Pivots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81262"/>
            <a:ext cx="3581400" cy="2619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481262"/>
            <a:ext cx="3581400" cy="2619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481262"/>
            <a:ext cx="3581400" cy="2619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728912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425" y="3395662"/>
            <a:ext cx="324040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Scope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3767137"/>
            <a:ext cx="30861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Waterfall: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Best for fixed, well-understood requirements.</a:t>
            </a:r>
            <a:r>
              <a:t>
</a:t>
            </a:r>
            <a:r>
              <a:rPr b="1" sz="1275" i="0" u="none">
                <a:solidFill>
                  <a:srgbClr val="94A3B8"/>
                </a:solidFill>
                <a:latin typeface="Urbanist"/>
              </a:rPr>
              <a:t>Agile: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Essential when requirements evolve based on market and client feedback.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728912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2950" y="3395662"/>
            <a:ext cx="324040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Client Involvement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2950" y="3767137"/>
            <a:ext cx="30861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Waterfall: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Stakeholders interact mainly at project start and finish.</a:t>
            </a:r>
            <a:r>
              <a:t>
</a:t>
            </a:r>
            <a:r>
              <a:rPr b="1" sz="1275" i="0" u="none">
                <a:solidFill>
                  <a:srgbClr val="94A3B8"/>
                </a:solidFill>
                <a:latin typeface="Urbanist"/>
              </a:rPr>
              <a:t>Agile: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Demands active, ongoing Product Owner and stakeholder collaboration.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475" y="2728912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72475" y="3395662"/>
            <a:ext cx="324040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F1F5F9"/>
                </a:solidFill>
                <a:latin typeface="Urbanist SemiBold"/>
              </a:rPr>
              <a:t>Risk &amp;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2475" y="3767137"/>
            <a:ext cx="30861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94A3B8"/>
                </a:solidFill>
                <a:latin typeface="Urbanist"/>
              </a:rPr>
              <a:t>Waterfall: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High risk of late-stage defect discovery.</a:t>
            </a:r>
            <a:r>
              <a:t>
</a:t>
            </a:r>
            <a:r>
              <a:rPr b="1" sz="1275" i="0" u="none">
                <a:solidFill>
                  <a:srgbClr val="94A3B8"/>
                </a:solidFill>
                <a:latin typeface="Urbanist"/>
              </a:rPr>
              <a:t>Agile: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Mitigates risk via 2-week feedback loops and early shippable code.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2843212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3912" y="2843212"/>
            <a:ext cx="31432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775" y="2843212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Decision Matrix: </a:t>
            </a:r>
            <a:r>
              <a:rPr b="1" sz="2850" i="0" u="none">
                <a:solidFill>
                  <a:srgbClr val="38BDF8"/>
                </a:solidFill>
                <a:latin typeface="Urbanist"/>
              </a:rPr>
              <a:t>Waterfall or Agile?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2607468"/>
            <a:ext cx="109823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Atlassian. (2023). </a:t>
            </a:r>
            <a:r>
              <a:rPr b="0" sz="1275" i="1" u="none">
                <a:solidFill>
                  <a:srgbClr val="94A3B8"/>
                </a:solidFill>
                <a:latin typeface="Urbanist"/>
              </a:rPr>
              <a:t>Agile vs. Waterfall: Choose the right methodology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. Atlassian Software Guide. https://www.atlassian.com/agile/project-management/agile-vs-waterfall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3226593"/>
            <a:ext cx="109823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Cobb, C. G. (2021). </a:t>
            </a:r>
            <a:r>
              <a:rPr b="0" sz="1275" i="1" u="none">
                <a:solidFill>
                  <a:srgbClr val="94A3B8"/>
                </a:solidFill>
                <a:latin typeface="Urbanist"/>
              </a:rPr>
              <a:t>The project manager's guide to mastering Agile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(2nd ed.). John Wiley &amp; 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3602831"/>
            <a:ext cx="109823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Highsmith, J., Luu, L., &amp; Robinson, D. (2021). </a:t>
            </a:r>
            <a:r>
              <a:rPr b="0" sz="1275" i="1" u="none">
                <a:solidFill>
                  <a:srgbClr val="94A3B8"/>
                </a:solidFill>
                <a:latin typeface="Urbanist"/>
              </a:rPr>
              <a:t>EDGE: Leadership strategies for building agility across your business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. Addison-Wesley Professional.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979068"/>
            <a:ext cx="109823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Project Management Institute. (2021). </a:t>
            </a:r>
            <a:r>
              <a:rPr b="0" sz="1275" i="1" u="none">
                <a:solidFill>
                  <a:srgbClr val="94A3B8"/>
                </a:solidFill>
                <a:latin typeface="Urbanist"/>
              </a:rPr>
              <a:t>A guide to the project management body of knowledge (PMBOK guide)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 (7th ed.). Project Management Institute.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355306"/>
            <a:ext cx="109823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94A3B8"/>
                </a:solidFill>
                <a:latin typeface="Urbanist"/>
              </a:rPr>
              <a:t>Schwaber, K., &amp; Sutherland, J. (2020). </a:t>
            </a:r>
            <a:r>
              <a:rPr b="0" sz="1275" i="1" u="none">
                <a:solidFill>
                  <a:srgbClr val="94A3B8"/>
                </a:solidFill>
                <a:latin typeface="Urbanist"/>
              </a:rPr>
              <a:t>The Scrum guide: The definitive guide to Scrum: The rules of the game</a:t>
            </a:r>
            <a:r>
              <a:rPr b="0" sz="1275" i="0" u="none">
                <a:solidFill>
                  <a:srgbClr val="94A3B8"/>
                </a:solidFill>
                <a:latin typeface="Urbanist"/>
              </a:rPr>
              <a:t>. Scrum.org. https://scrumguides.org/scrum-guide.html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Academic &amp; Professional </a:t>
            </a:r>
            <a:r>
              <a:rPr b="1" sz="2850" i="0" u="none">
                <a:solidFill>
                  <a:srgbClr val="38BDF8"/>
                </a:solidFill>
                <a:latin typeface="Urbanist"/>
              </a:rPr>
              <a:t>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95400" y="3024187"/>
            <a:ext cx="9601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3786187"/>
            <a:ext cx="9601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5400" y="3786187"/>
            <a:ext cx="9601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167062"/>
            <a:ext cx="1743075" cy="485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90775" y="3174206"/>
            <a:ext cx="8505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Urbanist"/>
              </a:rPr>
              <a:t>https://media.geeksforgeeks.org/wp-content/uploads/20240612173423/Phases-of-Agile-SDLC.webp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0775" y="3407568"/>
            <a:ext cx="850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Urbanis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"/>
              </a:rPr>
              <a:t>www.geeksforgeeks.org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39385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90775" y="3945731"/>
            <a:ext cx="8505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Urbanist"/>
              </a:rPr>
              <a:t>https://www.seguetech.com/wp-content/uploads/2013/07/segue-blog-waterfall-vs-agile-which-is-right-development-methodology-for-your-project.png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0775" y="4179093"/>
            <a:ext cx="8505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Urbanist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Urbanist"/>
              </a:rPr>
              <a:t>www.seguetech.com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775" y="485775"/>
            <a:ext cx="117062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Urbanist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